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65" r:id="rId2"/>
    <p:sldId id="366" r:id="rId3"/>
    <p:sldId id="362" r:id="rId4"/>
    <p:sldId id="364" r:id="rId5"/>
    <p:sldId id="375" r:id="rId6"/>
    <p:sldId id="370" r:id="rId7"/>
    <p:sldId id="371" r:id="rId8"/>
    <p:sldId id="262" r:id="rId9"/>
    <p:sldId id="263" r:id="rId10"/>
    <p:sldId id="264" r:id="rId11"/>
    <p:sldId id="268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70"/>
            <p14:sldId id="371"/>
            <p14:sldId id="262"/>
            <p14:sldId id="263"/>
            <p14:sldId id="264"/>
            <p14:sldId id="268"/>
            <p14:sldId id="267"/>
            <p14:sldId id="269"/>
            <p14:sldId id="270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>
        <p:scale>
          <a:sx n="150" d="100"/>
          <a:sy n="150" d="100"/>
        </p:scale>
        <p:origin x="498" y="138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dirty="0"/>
              <a:t>Без паники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wrap="square" anchor="ctr"/>
          <a:lstStyle/>
          <a:p>
            <a:pPr indent="268288"/>
            <a:r>
              <a:rPr sz="2000" b="0" dirty="0">
                <a:solidFill>
                  <a:srgbClr val="FFFFFF"/>
                </a:solidFill>
              </a:rPr>
              <a:t>Прогноз инцидентов Москоллектора · ЛЦТ 2026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4575033" cy="1706743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Image 0" descr=" ">
            <a:extLst>
              <a:ext uri="{FF2B5EF4-FFF2-40B4-BE49-F238E27FC236}">
                <a16:creationId xmlns:a16="http://schemas.microsoft.com/office/drawing/2014/main" id="{9758C3D8-DBCA-F69E-1FA0-2218493AE77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11078" b="11078"/>
          <a:stretch>
            <a:fillRect/>
          </a:stretch>
        </p:blipFill>
        <p:spPr>
          <a:xfrm>
            <a:off x="234950" y="287338"/>
            <a:ext cx="3184547" cy="53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  <p:txBody>
          <a:bodyPr/>
          <a:lstStyle/>
          <a:p>
            <a:endParaRPr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rgbClr val="520977"/>
                </a:solidFill>
              </a:rPr>
              <a:t>Что это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500" b="0" dirty="0">
                <a:solidFill>
                  <a:srgbClr val="1C1D22"/>
                </a:solidFill>
              </a:rPr>
              <a:t>Четыре модели, не один общий балл. Метка из пары «тип датчика + значение». Координат нет, вместо карты схема пикетов.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solidFill>
                  <a:srgbClr val="1C1D22"/>
                </a:solidFill>
              </a:rPr>
              <a:t>Команда «Без паники»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1C1D22"/>
                </a:solidFill>
              </a:rPr>
              <a:t>Капитан: Игнаткин Максим Андреевич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 dirty="0">
                <a:solidFill>
                  <a:srgbClr val="1C1D22"/>
                </a:solidFill>
              </a:rPr>
              <a:t>Участник: Морковников Виктор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ru-RU" b="1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ru-RU" b="1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rgbClr val="520977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 wrap="square"/>
          <a:lstStyle/>
          <a:p>
            <a:r>
              <a:rPr sz="2800" b="1">
                <a:solidFill>
                  <a:srgbClr val="1C1D22"/>
                </a:solidFill>
              </a:rPr>
              <a:t>СУТЬ РЕШЕНИЯ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rgbClr val="520977"/>
                </a:solidFill>
              </a:rPr>
              <a:t>Как устроено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500" b="0" dirty="0">
                <a:solidFill>
                  <a:srgbClr val="1C1D22"/>
                </a:solidFill>
              </a:rPr>
              <a:t>Подсказка диспетчеру на сутки вперёд: пожар, подтопление, отказ датчика, ложный доступ. Ехать или нет решает человек.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48035" y="1518897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b="0" dirty="0">
                <a:solidFill>
                  <a:srgbClr val="1C1D22"/>
                </a:solidFill>
              </a:rPr>
              <a:t>Бэкенд</a:t>
            </a:r>
            <a:r>
              <a:rPr lang="en-US" sz="1400" b="0" dirty="0">
                <a:solidFill>
                  <a:srgbClr val="1C1D22"/>
                </a:solidFill>
              </a:rPr>
              <a:t>, </a:t>
            </a:r>
            <a:r>
              <a:rPr lang="ru-RU" dirty="0">
                <a:solidFill>
                  <a:srgbClr val="1C1D22"/>
                </a:solidFill>
              </a:rPr>
              <a:t>моральная поддержка</a:t>
            </a:r>
            <a:endParaRPr lang="ru-RU" sz="1400" b="0" dirty="0">
              <a:solidFill>
                <a:srgbClr val="1C1D22"/>
              </a:solidFill>
            </a:endParaRPr>
          </a:p>
          <a:p>
            <a:pPr fontAlgn="base">
              <a:spcBef>
                <a:spcPts val="0"/>
              </a:spcBef>
              <a:buNone/>
            </a:pPr>
            <a:endParaRPr lang="ru-RU" sz="1400" b="0" dirty="0">
              <a:solidFill>
                <a:srgbClr val="1C1D22"/>
              </a:solidFill>
            </a:endParaRPr>
          </a:p>
          <a:p>
            <a:pPr fontAlgn="base">
              <a:spcBef>
                <a:spcPts val="0"/>
              </a:spcBef>
              <a:buNone/>
            </a:pPr>
            <a:endParaRPr lang="ru-RU" sz="1400" b="0" dirty="0">
              <a:solidFill>
                <a:srgbClr val="1C1D22"/>
              </a:solidFill>
            </a:endParaRPr>
          </a:p>
          <a:p>
            <a:pPr fontAlgn="base">
              <a:spcBef>
                <a:spcPts val="0"/>
              </a:spcBef>
              <a:buNone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rgbClr val="520977"/>
                </a:solidFill>
              </a:rPr>
              <a:t>Морковников Виктор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436386" y="327396"/>
            <a:ext cx="180453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 wrap="square"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dirty="0">
                <a:solidFill>
                  <a:srgbClr val="1C1D22"/>
                </a:solidFill>
              </a:rPr>
              <a:t>Капитан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dirty="0">
                <a:solidFill>
                  <a:srgbClr val="1C1D22"/>
                </a:solidFill>
              </a:rPr>
              <a:t>Бэкенд, модели, экран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None/>
            </a:pPr>
            <a:endParaRPr lang="ru-RU" sz="1400" b="0" dirty="0">
              <a:solidFill>
                <a:srgbClr val="1C1D22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400" b="1" dirty="0">
                <a:solidFill>
                  <a:srgbClr val="520977"/>
                </a:solidFill>
              </a:rPr>
              <a:t>Игнаткин Максим Андреевич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507849" y="282721"/>
            <a:ext cx="283225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 wrap="square"/>
          <a:lstStyle/>
          <a:p>
            <a:r>
              <a:rPr sz="2800" b="1" dirty="0">
                <a:solidFill>
                  <a:srgbClr val="FFFFFF"/>
                </a:solidFill>
              </a:rPr>
              <a:t>СЛОЖНОСТИ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6" y="1602274"/>
            <a:ext cx="9251743" cy="859268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1C1D22"/>
                </a:solidFill>
              </a:rPr>
              <a:t>Сначала разобрали журналы СМВУ. CSV сложили в </a:t>
            </a:r>
            <a:r>
              <a:rPr lang="ru-RU" sz="1500" b="0" dirty="0" err="1">
                <a:solidFill>
                  <a:srgbClr val="1C1D22"/>
                </a:solidFill>
              </a:rPr>
              <a:t>Parquet</a:t>
            </a:r>
            <a:r>
              <a:rPr lang="ru-RU" sz="1500" b="0" dirty="0">
                <a:solidFill>
                  <a:srgbClr val="1C1D22"/>
                </a:solidFill>
              </a:rPr>
              <a:t>, витрины в </a:t>
            </a:r>
            <a:r>
              <a:rPr lang="ru-RU" sz="1500" b="0" dirty="0" err="1">
                <a:solidFill>
                  <a:srgbClr val="1C1D22"/>
                </a:solidFill>
              </a:rPr>
              <a:t>Postgres</a:t>
            </a:r>
            <a:r>
              <a:rPr lang="ru-RU" sz="1500" b="0" dirty="0">
                <a:solidFill>
                  <a:srgbClr val="1C1D22"/>
                </a:solidFill>
              </a:rPr>
              <a:t>. Меток в данных не было, собрали сами по паре «тип датчика + значение». Дальше четыре </a:t>
            </a:r>
            <a:r>
              <a:rPr lang="ru-RU" sz="1500" b="0" dirty="0" err="1">
                <a:solidFill>
                  <a:srgbClr val="1C1D22"/>
                </a:solidFill>
              </a:rPr>
              <a:t>LightGBM</a:t>
            </a:r>
            <a:r>
              <a:rPr lang="ru-RU" sz="1500" b="0" dirty="0">
                <a:solidFill>
                  <a:srgbClr val="1C1D22"/>
                </a:solidFill>
              </a:rPr>
              <a:t>, сплит по годам, и уже сверху API и экран диспетчера.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rgbClr val="520977"/>
                </a:solidFill>
              </a:rPr>
              <a:t>Как собирали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07849" y="4970717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1C1D22"/>
                </a:solidFill>
              </a:rPr>
              <a:t>Нет подтверждённых инцидентов и нет координат. Один канал накричал 25 тысяч «пожаров». Из метки пожара его убрали, в признаках отказа оставили. Особенно плохо было в оформлении презентации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35449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sz="1600" b="1" dirty="0">
                <a:solidFill>
                  <a:srgbClr val="520977"/>
                </a:solidFill>
              </a:rPr>
              <a:t>Где было больно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07849" y="3214362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 b="0" dirty="0">
                <a:solidFill>
                  <a:srgbClr val="1C1D22"/>
                </a:solidFill>
              </a:rPr>
              <a:t>Интересное описание, хотелось сделать полезную </a:t>
            </a:r>
            <a:r>
              <a:rPr lang="en-US" sz="1500" b="0" dirty="0">
                <a:solidFill>
                  <a:srgbClr val="1C1D22"/>
                </a:solidFill>
              </a:rPr>
              <a:t>ML </a:t>
            </a:r>
            <a:r>
              <a:rPr lang="ru-RU" sz="1500" b="0" dirty="0">
                <a:solidFill>
                  <a:srgbClr val="1C1D22"/>
                </a:solidFill>
              </a:rPr>
              <a:t>систему на основе реальных </a:t>
            </a:r>
            <a:r>
              <a:rPr lang="ru-RU" sz="1500" b="0" dirty="0" err="1">
                <a:solidFill>
                  <a:srgbClr val="1C1D22"/>
                </a:solidFill>
              </a:rPr>
              <a:t>данныз</a:t>
            </a:r>
            <a:endParaRPr lang="ru-RU" sz="1500" b="0" dirty="0">
              <a:solidFill>
                <a:srgbClr val="1C1D22"/>
              </a:solidFill>
            </a:endParaRP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364503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rgbClr val="520977"/>
                </a:solidFill>
              </a:rPr>
              <a:t>Почему эта задача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525817" y="323033"/>
            <a:ext cx="337308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 wrap="square">
            <a:normAutofit/>
          </a:bodyPr>
          <a:lstStyle/>
          <a:p>
            <a:r>
              <a:rPr lang="ru-RU" sz="1400" b="0" dirty="0">
                <a:solidFill>
                  <a:srgbClr val="1C1D22"/>
                </a:solidFill>
              </a:rPr>
              <a:t>Четыре отдельные модели </a:t>
            </a:r>
            <a:r>
              <a:rPr lang="ru-RU" sz="1400" b="0" dirty="0" err="1">
                <a:solidFill>
                  <a:srgbClr val="1C1D22"/>
                </a:solidFill>
              </a:rPr>
              <a:t>LightGBM</a:t>
            </a:r>
            <a:r>
              <a:rPr lang="ru-RU" sz="1400" b="0" dirty="0">
                <a:solidFill>
                  <a:srgbClr val="1C1D22"/>
                </a:solidFill>
              </a:rPr>
              <a:t>: пожар, подтопление, отказ датчика и несанкционированный доступ. </a:t>
            </a:r>
          </a:p>
          <a:p>
            <a:r>
              <a:rPr lang="ru-RU" sz="1400" b="0" dirty="0">
                <a:solidFill>
                  <a:srgbClr val="1C1D22"/>
                </a:solidFill>
              </a:rPr>
              <a:t>Рядом правила и простой </a:t>
            </a:r>
            <a:r>
              <a:rPr lang="ru-RU" sz="1400" b="0" dirty="0" err="1">
                <a:solidFill>
                  <a:srgbClr val="1C1D22"/>
                </a:solidFill>
              </a:rPr>
              <a:t>baseline</a:t>
            </a:r>
            <a:r>
              <a:rPr lang="ru-RU" sz="1400" b="0" dirty="0">
                <a:solidFill>
                  <a:srgbClr val="1C1D22"/>
                </a:solidFill>
              </a:rPr>
              <a:t> «как вчера», чтобы было с чем сравнивать. Признаки считаются по объекту и часу: окно за сутки, пикеты, режим охраны, погода Москвы. </a:t>
            </a:r>
          </a:p>
          <a:p>
            <a:r>
              <a:rPr lang="ru-RU" sz="1400" b="0" dirty="0">
                <a:solidFill>
                  <a:srgbClr val="1C1D22"/>
                </a:solidFill>
              </a:rPr>
              <a:t>Готовых меток в журнале нет. Их собрали по паре «тип датчика + значение»: одно и то же «не замкнут» у теплового датчика и у двери значит разное. </a:t>
            </a:r>
          </a:p>
          <a:p>
            <a:r>
              <a:rPr lang="ru-RU" sz="1400" b="0" dirty="0">
                <a:solidFill>
                  <a:srgbClr val="1C1D22"/>
                </a:solidFill>
              </a:rPr>
              <a:t>Учим на 2019–2024, проверяем на 2025, тест — 2026. Случайный сплит на таком ряде завышает цифры, поэтому режем по </a:t>
            </a:r>
            <a:r>
              <a:rPr lang="ru-RU" sz="1400" b="0" dirty="0" err="1">
                <a:solidFill>
                  <a:srgbClr val="1C1D22"/>
                </a:solidFill>
              </a:rPr>
              <a:t>времени.Пороги</a:t>
            </a:r>
            <a:r>
              <a:rPr lang="ru-RU" sz="1400" b="0" dirty="0">
                <a:solidFill>
                  <a:srgbClr val="1C1D22"/>
                </a:solidFill>
              </a:rPr>
              <a:t> лежат в </a:t>
            </a:r>
            <a:r>
              <a:rPr lang="ru-RU" sz="1400" b="0" dirty="0" err="1">
                <a:solidFill>
                  <a:srgbClr val="1C1D22"/>
                </a:solidFill>
              </a:rPr>
              <a:t>Postgres</a:t>
            </a:r>
            <a:r>
              <a:rPr lang="ru-RU" sz="1400" b="0" dirty="0">
                <a:solidFill>
                  <a:srgbClr val="1C1D22"/>
                </a:solidFill>
              </a:rPr>
              <a:t>. Ложные их поднимают, выезды чуть опускают. Файлы моделей бэкенд не переписывает. Новая пачка тревог пересчитывается сразу, лимит — 5 минут.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 wrap="square">
            <a:normAutofit/>
          </a:bodyPr>
          <a:lstStyle/>
          <a:p>
            <a:r>
              <a:rPr lang="ru-RU" sz="1400" b="0" dirty="0">
                <a:solidFill>
                  <a:srgbClr val="1C1D22"/>
                </a:solidFill>
              </a:rPr>
              <a:t>На </a:t>
            </a:r>
            <a:r>
              <a:rPr lang="ru-RU" sz="1400" b="0" dirty="0" err="1">
                <a:solidFill>
                  <a:srgbClr val="1C1D22"/>
                </a:solidFill>
              </a:rPr>
              <a:t>дашборде</a:t>
            </a:r>
            <a:r>
              <a:rPr lang="ru-RU" sz="1400" b="0" dirty="0">
                <a:solidFill>
                  <a:srgbClr val="1C1D22"/>
                </a:solidFill>
              </a:rPr>
              <a:t> четыре риска и всё, что уже выше 80%. Окно — последние сутки журнала, а не календарный сегодняшний день: данные кончаются июнем 2026.</a:t>
            </a:r>
          </a:p>
          <a:p>
            <a:r>
              <a:rPr lang="ru-RU" sz="1400" b="0" dirty="0">
                <a:solidFill>
                  <a:srgbClr val="1C1D22"/>
                </a:solidFill>
              </a:rPr>
              <a:t>В карточке объекта вероятность, почему модель так решила, схема пикетов и что делать. Координат нет, поэтому карты Москвы тоже нет.</a:t>
            </a:r>
          </a:p>
          <a:p>
            <a:r>
              <a:rPr lang="ru-RU" sz="1400" b="0" dirty="0">
                <a:solidFill>
                  <a:srgbClr val="1C1D22"/>
                </a:solidFill>
              </a:rPr>
              <a:t>Диспетчер ставит решение: выезд, ложное, наблюдение или ТО, и может оставить комментарий. </a:t>
            </a:r>
          </a:p>
          <a:p>
            <a:r>
              <a:rPr lang="ru-RU" sz="1400" b="0" dirty="0">
                <a:solidFill>
                  <a:srgbClr val="1C1D22"/>
                </a:solidFill>
              </a:rPr>
              <a:t>Сверху кнопки сценариев «пожар» и «подтопление» и «пачка СМВУ»: новые тревоги сразу падают в журнал.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Для диспетчера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 wrap="square"/>
          <a:lstStyle/>
          <a:p>
            <a:r>
              <a:rPr sz="2800" b="1">
                <a:solidFill>
                  <a:srgbClr val="1C1D22"/>
                </a:solidFill>
              </a:rPr>
              <a:t>ЧЕТЫРЕ РИСКА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4902200" cy="712587"/>
          </a:xfrm>
        </p:spPr>
        <p:txBody>
          <a:bodyPr wrap="square"/>
          <a:lstStyle/>
          <a:p>
            <a:r>
              <a:rPr sz="1800" b="0">
                <a:solidFill>
                  <a:srgbClr val="1C1D22"/>
                </a:solidFill>
              </a:rPr>
              <a:t>Пожар. Дым, тепло, газ, ручная кнопка, соседи по пикету.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4902200" cy="712587"/>
          </a:xfrm>
        </p:spPr>
        <p:txBody>
          <a:bodyPr wrap="square"/>
          <a:lstStyle/>
          <a:p>
            <a:r>
              <a:rPr sz="1800" b="0">
                <a:solidFill>
                  <a:srgbClr val="1C1D22"/>
                </a:solidFill>
              </a:rPr>
              <a:t>Подтопление. Насосы, датчик воды, осадки.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4902200" cy="712587"/>
          </a:xfrm>
        </p:spPr>
        <p:txBody>
          <a:bodyPr wrap="square"/>
          <a:lstStyle/>
          <a:p>
            <a:r>
              <a:rPr sz="1800" b="0">
                <a:solidFill>
                  <a:srgbClr val="1C1D22"/>
                </a:solidFill>
              </a:rPr>
              <a:t>Отказ. «Неисправен», «Обесточен», дребезг, каналы-крикуны.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4902200" cy="712587"/>
          </a:xfrm>
        </p:spPr>
        <p:txBody>
          <a:bodyPr wrap="square">
            <a:normAutofit fontScale="92500"/>
          </a:bodyPr>
          <a:lstStyle/>
          <a:p>
            <a:r>
              <a:rPr sz="1800" b="0">
                <a:solidFill>
                  <a:srgbClr val="1C1D22"/>
                </a:solidFill>
              </a:rPr>
              <a:t>НСД. Охрана, несколько каналов, время суток. Одиночная сработка чаще ложная.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4902200" cy="712587"/>
          </a:xfrm>
        </p:spPr>
        <p:txBody>
          <a:bodyPr wrap="square"/>
          <a:lstStyle/>
          <a:p>
            <a:r>
              <a:rPr sz="1800" b="0">
                <a:solidFill>
                  <a:srgbClr val="1C1D22"/>
                </a:solidFill>
              </a:rPr>
              <a:t>На выходе текст: смотреть, ехать, ТО или сверить камеры.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r>
              <a:rPr lang="ru-RU" dirty="0">
                <a:solidFill>
                  <a:schemeClr val="accent5"/>
                </a:solidFill>
              </a:rPr>
              <a:t>6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520913" y="305083"/>
            <a:ext cx="379708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 wrap="square"/>
          <a:lstStyle/>
          <a:p>
            <a:r>
              <a:rPr sz="2000" b="1">
                <a:solidFill>
                  <a:srgbClr val="520977"/>
                </a:solidFill>
              </a:rPr>
              <a:t>Метки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 wrap="square"/>
          <a:lstStyle/>
          <a:p>
            <a:r>
              <a:rPr sz="1400" b="0">
                <a:solidFill>
                  <a:srgbClr val="1C1D22"/>
                </a:solidFill>
              </a:rPr>
              <a:t>Прогнозируем сработку, не подтверждённый пожар. Проверенных отметок в журнале нет.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 wrap="square"/>
          <a:lstStyle/>
          <a:p>
            <a:r>
              <a:rPr sz="2000" b="1">
                <a:solidFill>
                  <a:srgbClr val="520977"/>
                </a:solidFill>
              </a:rPr>
              <a:t>Вход и карта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 wrap="square"/>
          <a:lstStyle/>
          <a:p>
            <a:r>
              <a:rPr sz="1400" b="0">
                <a:solidFill>
                  <a:srgbClr val="1C1D22"/>
                </a:solidFill>
              </a:rPr>
              <a:t>Логин через заголовок, LDAP нет. Координат тоже нет, поэтому схема пикетов, не карта Москвы.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 wrap="square"/>
          <a:lstStyle/>
          <a:p>
            <a:r>
              <a:rPr sz="2000" b="1">
                <a:solidFill>
                  <a:srgbClr val="520977"/>
                </a:solidFill>
              </a:rPr>
              <a:t>Заявки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 wrap="square"/>
          <a:lstStyle/>
          <a:p>
            <a:r>
              <a:rPr sz="1400" b="0" dirty="0" err="1">
                <a:solidFill>
                  <a:srgbClr val="1C1D22"/>
                </a:solidFill>
              </a:rPr>
              <a:t>Заявка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наружу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lang="ru-RU" sz="1400" b="0" dirty="0">
                <a:solidFill>
                  <a:srgbClr val="1C1D22"/>
                </a:solidFill>
              </a:rPr>
              <a:t>это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заглушка</a:t>
            </a:r>
            <a:r>
              <a:rPr sz="1400" b="0" dirty="0">
                <a:solidFill>
                  <a:srgbClr val="1C1D22"/>
                </a:solidFill>
              </a:rPr>
              <a:t>. </a:t>
            </a:r>
            <a:r>
              <a:rPr sz="1400" b="0" dirty="0" err="1">
                <a:solidFill>
                  <a:srgbClr val="1C1D22"/>
                </a:solidFill>
              </a:rPr>
              <a:t>Оборудованием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не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управляем</a:t>
            </a:r>
            <a:r>
              <a:rPr sz="1400" b="0" dirty="0">
                <a:solidFill>
                  <a:srgbClr val="1C1D22"/>
                </a:solidFill>
              </a:rPr>
              <a:t>.</a:t>
            </a:r>
            <a:r>
              <a:rPr lang="ru-RU" sz="1400" b="0" dirty="0">
                <a:solidFill>
                  <a:srgbClr val="1C1D22"/>
                </a:solidFill>
              </a:rPr>
              <a:t>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 wrap="square"/>
          <a:lstStyle/>
          <a:p>
            <a:r>
              <a:rPr sz="2000" b="1">
                <a:solidFill>
                  <a:srgbClr val="520977"/>
                </a:solidFill>
              </a:rPr>
              <a:t>Цифры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 wrap="square"/>
          <a:lstStyle/>
          <a:p>
            <a:r>
              <a:rPr sz="1400" b="0" dirty="0" err="1">
                <a:solidFill>
                  <a:srgbClr val="1C1D22"/>
                </a:solidFill>
              </a:rPr>
              <a:t>Модель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лучше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прогноза</a:t>
            </a:r>
            <a:r>
              <a:rPr sz="1400" b="0" dirty="0">
                <a:solidFill>
                  <a:srgbClr val="1C1D22"/>
                </a:solidFill>
              </a:rPr>
              <a:t> «</a:t>
            </a:r>
            <a:r>
              <a:rPr sz="1400" b="0" dirty="0" err="1">
                <a:solidFill>
                  <a:srgbClr val="1C1D22"/>
                </a:solidFill>
              </a:rPr>
              <a:t>как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вчера</a:t>
            </a:r>
            <a:r>
              <a:rPr sz="1400" b="0" dirty="0">
                <a:solidFill>
                  <a:srgbClr val="1C1D22"/>
                </a:solidFill>
              </a:rPr>
              <a:t>». </a:t>
            </a:r>
            <a:r>
              <a:rPr sz="1400" b="0" dirty="0" err="1">
                <a:solidFill>
                  <a:srgbClr val="1C1D22"/>
                </a:solidFill>
              </a:rPr>
              <a:t>Одним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порогом</a:t>
            </a:r>
            <a:r>
              <a:rPr sz="1400" b="0" dirty="0">
                <a:solidFill>
                  <a:srgbClr val="1C1D22"/>
                </a:solidFill>
              </a:rPr>
              <a:t> и </a:t>
            </a:r>
            <a:r>
              <a:rPr sz="1400" b="0" dirty="0" err="1">
                <a:solidFill>
                  <a:srgbClr val="1C1D22"/>
                </a:solidFill>
              </a:rPr>
              <a:t>точность</a:t>
            </a:r>
            <a:r>
              <a:rPr sz="1400" b="0" dirty="0">
                <a:solidFill>
                  <a:srgbClr val="1C1D22"/>
                </a:solidFill>
              </a:rPr>
              <a:t>, и </a:t>
            </a:r>
            <a:r>
              <a:rPr sz="1400" b="0" dirty="0" err="1">
                <a:solidFill>
                  <a:srgbClr val="1C1D22"/>
                </a:solidFill>
              </a:rPr>
              <a:t>полнота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из</a:t>
            </a:r>
            <a:r>
              <a:rPr sz="1400" b="0" dirty="0">
                <a:solidFill>
                  <a:srgbClr val="1C1D22"/>
                </a:solidFill>
              </a:rPr>
              <a:t> ТЗ </a:t>
            </a:r>
            <a:r>
              <a:rPr sz="1400" b="0" dirty="0" err="1">
                <a:solidFill>
                  <a:srgbClr val="1C1D22"/>
                </a:solidFill>
              </a:rPr>
              <a:t>не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закрываются</a:t>
            </a:r>
            <a:r>
              <a:rPr sz="1400" b="0" dirty="0">
                <a:solidFill>
                  <a:srgbClr val="1C1D22"/>
                </a:solidFill>
              </a:rPr>
              <a:t>. </a:t>
            </a:r>
            <a:r>
              <a:rPr sz="1400" b="0" dirty="0" err="1">
                <a:solidFill>
                  <a:srgbClr val="1C1D22"/>
                </a:solidFill>
              </a:rPr>
              <a:t>На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пожаре</a:t>
            </a:r>
            <a:r>
              <a:rPr sz="1400" b="0" dirty="0">
                <a:solidFill>
                  <a:srgbClr val="1C1D22"/>
                </a:solidFill>
              </a:rPr>
              <a:t> и </a:t>
            </a:r>
            <a:r>
              <a:rPr sz="1400" b="0" dirty="0" err="1">
                <a:solidFill>
                  <a:srgbClr val="1C1D22"/>
                </a:solidFill>
              </a:rPr>
              <a:t>воде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порог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под</a:t>
            </a:r>
            <a:r>
              <a:rPr sz="1400" b="0" dirty="0">
                <a:solidFill>
                  <a:srgbClr val="1C1D22"/>
                </a:solidFill>
              </a:rPr>
              <a:t> </a:t>
            </a:r>
            <a:r>
              <a:rPr sz="1400" b="0" dirty="0" err="1">
                <a:solidFill>
                  <a:srgbClr val="1C1D22"/>
                </a:solidFill>
              </a:rPr>
              <a:t>полноту</a:t>
            </a:r>
            <a:r>
              <a:rPr sz="1400" b="0" dirty="0">
                <a:solidFill>
                  <a:srgbClr val="1C1D22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ЧЕСТНЫЕ ОГРАНИЧЕНИЯ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 wrap="square"/>
          <a:lstStyle/>
          <a:p>
            <a:r>
              <a:rPr sz="2200" b="1">
                <a:solidFill>
                  <a:srgbClr val="FF0053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 wrap="square"/>
          <a:lstStyle/>
          <a:p>
            <a:r>
              <a:rPr sz="2200" b="1">
                <a:solidFill>
                  <a:srgbClr val="FF0053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 wrap="square"/>
          <a:lstStyle/>
          <a:p>
            <a:r>
              <a:rPr sz="2200" b="1">
                <a:solidFill>
                  <a:srgbClr val="FF0053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 wrap="square"/>
          <a:lstStyle/>
          <a:p>
            <a:r>
              <a:rPr sz="2200" b="1"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525817" y="298835"/>
            <a:ext cx="240153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sz="1800" b="0" dirty="0" err="1">
                <a:solidFill>
                  <a:srgbClr val="1C1D22"/>
                </a:solidFill>
              </a:rPr>
              <a:t>Docker</a:t>
            </a:r>
            <a:r>
              <a:rPr sz="1800" b="0" dirty="0">
                <a:solidFill>
                  <a:srgbClr val="1C1D22"/>
                </a:solidFill>
              </a:rPr>
              <a:t> </a:t>
            </a:r>
            <a:r>
              <a:rPr sz="1800" b="0" dirty="0" err="1">
                <a:solidFill>
                  <a:srgbClr val="1C1D22"/>
                </a:solidFill>
              </a:rPr>
              <a:t>Compose</a:t>
            </a:r>
            <a:r>
              <a:rPr sz="1800" b="0" dirty="0">
                <a:solidFill>
                  <a:srgbClr val="1C1D22"/>
                </a:solidFill>
              </a:rPr>
              <a:t>.</a:t>
            </a:r>
            <a:endParaRPr lang="ru-RU" sz="3600" b="1" dirty="0">
              <a:solidFill>
                <a:schemeClr val="tx1"/>
              </a:solidFill>
            </a:endParaRPr>
          </a:p>
          <a:p>
            <a:pPr algn="ctr">
              <a:buNone/>
            </a:pPr>
            <a:r>
              <a:rPr sz="1800" b="0" dirty="0">
                <a:solidFill>
                  <a:srgbClr val="1C1D22"/>
                </a:solidFill>
              </a:rPr>
              <a:t>База, API, экран.</a:t>
            </a:r>
          </a:p>
          <a:p>
            <a:pPr algn="ctr">
              <a:buNone/>
            </a:pPr>
            <a:r>
              <a:rPr sz="1800" b="0" dirty="0">
                <a:solidFill>
                  <a:srgbClr val="1C1D22"/>
                </a:solidFill>
              </a:rPr>
              <a:t>Отдельно </a:t>
            </a:r>
            <a:r>
              <a:rPr sz="1800" b="0" dirty="0" err="1">
                <a:solidFill>
                  <a:srgbClr val="1C1D22"/>
                </a:solidFill>
              </a:rPr>
              <a:t>etl</a:t>
            </a:r>
            <a:r>
              <a:rPr sz="1800" b="0" dirty="0">
                <a:solidFill>
                  <a:srgbClr val="1C1D22"/>
                </a:solidFill>
              </a:rPr>
              <a:t> и </a:t>
            </a:r>
            <a:r>
              <a:rPr sz="1800" b="0" dirty="0" err="1">
                <a:solidFill>
                  <a:srgbClr val="1C1D22"/>
                </a:solidFill>
              </a:rPr>
              <a:t>ml</a:t>
            </a:r>
            <a:r>
              <a:rPr sz="1800" b="0" dirty="0">
                <a:solidFill>
                  <a:srgbClr val="1C1D22"/>
                </a:solidFill>
              </a:rPr>
              <a:t>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Python 3.12, FastAPI, Postgres 16, Alembic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DuckDB, Parquet, LightGBM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Экран отдаёт nginx. Node в контейнере нет.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Погода Москвы: Open-Meteo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Запуск: docker compose up --build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r>
              <a:rPr lang="ru-RU" dirty="0">
                <a:solidFill>
                  <a:schemeClr val="accent5"/>
                </a:solidFill>
              </a:rPr>
              <a:t>8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СТЕК И СБОРКА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525817" y="319270"/>
            <a:ext cx="234438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 dirty="0"/>
              <a:t>9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3200" b="1">
                <a:solidFill>
                  <a:srgbClr val="520977"/>
                </a:solidFill>
              </a:rPr>
              <a:t>313 млн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событий, 2019 — июнь 2026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3200" b="1">
                <a:solidFill>
                  <a:srgbClr val="520977"/>
                </a:solidFill>
              </a:rPr>
              <a:t>11,5 тыс.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каналов, 19 типов датчиков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3200" b="1">
                <a:solidFill>
                  <a:srgbClr val="520977"/>
                </a:solidFill>
              </a:rPr>
              <a:t>4,43 млн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строк признаков, объект × час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r>
              <a:t>ДАННЫЕ СМВУ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420000" y="160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FFFFFF"/>
                </a:solidFill>
                <a:latin typeface="Arial"/>
              </a:rPr>
              <a:t>События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по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годам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млн</a:t>
            </a:r>
            <a:endParaRPr sz="1800" b="1" dirty="0">
              <a:solidFill>
                <a:srgbClr val="FFFFFF"/>
              </a:solidFill>
              <a:latin typeface="Arial"/>
            </a:endParaRPr>
          </a:p>
          <a:p>
            <a:r>
              <a:rPr sz="1800" b="0" dirty="0">
                <a:solidFill>
                  <a:srgbClr val="FFFFFF"/>
                </a:solidFill>
                <a:latin typeface="Arial"/>
              </a:rPr>
              <a:t>2019 — 21</a:t>
            </a:r>
          </a:p>
          <a:p>
            <a:r>
              <a:rPr sz="1800" b="0" dirty="0">
                <a:solidFill>
                  <a:srgbClr val="FFFFFF"/>
                </a:solidFill>
                <a:latin typeface="Arial"/>
              </a:rPr>
              <a:t>2020 — 28</a:t>
            </a:r>
          </a:p>
          <a:p>
            <a:r>
              <a:rPr sz="1800" b="0" dirty="0">
                <a:solidFill>
                  <a:srgbClr val="FFFFFF"/>
                </a:solidFill>
                <a:latin typeface="Arial"/>
              </a:rPr>
              <a:t>2021 — 54,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тревог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больше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обычного</a:t>
            </a:r>
            <a:endParaRPr sz="1800" b="0" dirty="0">
              <a:solidFill>
                <a:srgbClr val="FFFFFF"/>
              </a:solidFill>
              <a:latin typeface="Arial"/>
            </a:endParaRPr>
          </a:p>
          <a:p>
            <a:r>
              <a:rPr sz="1800" b="0" dirty="0">
                <a:solidFill>
                  <a:srgbClr val="FFFFFF"/>
                </a:solidFill>
                <a:latin typeface="Arial"/>
              </a:rPr>
              <a:t>2022 — 43</a:t>
            </a:r>
          </a:p>
          <a:p>
            <a:r>
              <a:rPr sz="1800" b="0" dirty="0">
                <a:solidFill>
                  <a:srgbClr val="FFFFFF"/>
                </a:solidFill>
                <a:latin typeface="Arial"/>
              </a:rPr>
              <a:t>2023 — 32</a:t>
            </a:r>
          </a:p>
          <a:p>
            <a:r>
              <a:rPr sz="1800" b="0" dirty="0">
                <a:solidFill>
                  <a:srgbClr val="FFFFFF"/>
                </a:solidFill>
                <a:latin typeface="Arial"/>
              </a:rPr>
              <a:t>2024 — 49</a:t>
            </a:r>
          </a:p>
          <a:p>
            <a:r>
              <a:rPr sz="1800" b="0" dirty="0">
                <a:solidFill>
                  <a:srgbClr val="FFFFFF"/>
                </a:solidFill>
                <a:latin typeface="Arial"/>
              </a:rPr>
              <a:t>2025 — 56</a:t>
            </a:r>
          </a:p>
          <a:p>
            <a:r>
              <a:rPr sz="1800" b="0" dirty="0">
                <a:solidFill>
                  <a:srgbClr val="FFFFFF"/>
                </a:solidFill>
                <a:latin typeface="Arial"/>
              </a:rPr>
              <a:t>2026 — 31,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только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до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июня</a:t>
            </a:r>
            <a:endParaRPr sz="1800" b="0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500001" y="324562"/>
            <a:ext cx="2922649" cy="472802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 dirty="0">
                <a:solidFill>
                  <a:schemeClr val="accent6"/>
                </a:solidFill>
              </a:rPr>
              <a:t>10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3200" b="1">
                <a:solidFill>
                  <a:srgbClr val="520977"/>
                </a:solidFill>
              </a:rPr>
              <a:t>0,33</a:t>
            </a: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590" y="1739825"/>
            <a:ext cx="4790314" cy="642164"/>
          </a:xfrm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Пожар. Полнота 0,77, точность 0,14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3200" b="1">
                <a:solidFill>
                  <a:srgbClr val="520977"/>
                </a:solidFill>
              </a:rPr>
              <a:t>0,40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76590" y="3008386"/>
            <a:ext cx="4790314" cy="642164"/>
          </a:xfrm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Подтопление. Полнота 0,70, точность 0,27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3200" b="1">
                <a:solidFill>
                  <a:srgbClr val="520977"/>
                </a:solidFill>
              </a:rPr>
              <a:t>0,67</a:t>
            </a: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6590" y="4276947"/>
            <a:ext cx="4790314" cy="642164"/>
          </a:xfrm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Отказ. Точность 0,66, полнота 0,58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AFC1158-120D-4CE1-AFB1-4C61CA6A366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3200" b="1">
                <a:solidFill>
                  <a:srgbClr val="520977"/>
                </a:solidFill>
              </a:rPr>
              <a:t>0,68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6FB8C27-CC1E-4515-8198-911B043ED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76590" y="5545509"/>
            <a:ext cx="4790314" cy="642164"/>
          </a:xfrm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НСД. Точность 0,80, полнота 0,28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 wrap="square"/>
          <a:lstStyle/>
          <a:p>
            <a:r>
              <a:rPr sz="2600" b="1">
                <a:solidFill>
                  <a:srgbClr val="FFFFFF"/>
                </a:solidFill>
              </a:rPr>
              <a:t>МЕТРИКИ 2026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500000" y="1600000"/>
            <a:ext cx="52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C1D22"/>
                </a:solidFill>
                <a:latin typeface="Arial"/>
              </a:rPr>
              <a:t>PR-AUC на тесте 2026.</a:t>
            </a:r>
          </a:p>
          <a:p>
            <a:endParaRPr sz="2000" b="1">
              <a:solidFill>
                <a:srgbClr val="1C1D22"/>
              </a:solidFill>
              <a:latin typeface="Arial"/>
            </a:endParaRPr>
          </a:p>
          <a:p>
            <a:r>
              <a:rPr sz="2000" b="0">
                <a:solidFill>
                  <a:srgbClr val="1C1D22"/>
                </a:solidFill>
                <a:latin typeface="Arial"/>
              </a:rPr>
              <a:t>Пожар и вода: порог под полноту. Лучше лишний осмотр, чем пропуск.</a:t>
            </a:r>
          </a:p>
          <a:p>
            <a:endParaRPr sz="2000" b="0">
              <a:solidFill>
                <a:srgbClr val="1C1D22"/>
              </a:solidFill>
              <a:latin typeface="Arial"/>
            </a:endParaRPr>
          </a:p>
          <a:p>
            <a:r>
              <a:rPr sz="2000" b="0">
                <a:solidFill>
                  <a:srgbClr val="1C1D22"/>
                </a:solidFill>
                <a:latin typeface="Arial"/>
              </a:rPr>
              <a:t>НСД наоборот. Иначе ложные забьют журнал диспетчеру.</a:t>
            </a:r>
          </a:p>
          <a:p>
            <a:pPr>
              <a:buNone/>
            </a:pPr>
            <a:endParaRPr sz="2000" b="0">
              <a:solidFill>
                <a:srgbClr val="1C1D22"/>
              </a:solidFill>
              <a:latin typeface="Arial"/>
            </a:endParaRPr>
          </a:p>
          <a:p>
            <a:pPr>
              <a:buNone/>
            </a:pPr>
            <a:endParaRPr sz="2000" b="0">
              <a:solidFill>
                <a:srgbClr val="1C1D2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500021" y="318902"/>
            <a:ext cx="3525880" cy="580786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2000" b="1" dirty="0" err="1">
                <a:solidFill>
                  <a:srgbClr val="520977"/>
                </a:solidFill>
              </a:rPr>
              <a:t>Поток тревог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sz="1800" b="0">
                <a:solidFill>
                  <a:srgbClr val="1C1D22"/>
                </a:solidFill>
              </a:rPr>
              <a:t>Диспетчер тонет в сработках. Меток «выезд» или «ложное» в журнале нет.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2000" b="1" dirty="0" err="1">
                <a:solidFill>
                  <a:srgbClr val="520977"/>
                </a:solidFill>
              </a:rPr>
              <a:t>Прогноз на сутки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sz="1800" b="0">
                <a:solidFill>
                  <a:srgbClr val="1C1D22"/>
                </a:solidFill>
              </a:rPr>
              <a:t>Четыре вероятности, короткое объяснение и что с этим делать.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2000" b="1">
                <a:solidFill>
                  <a:srgbClr val="520977"/>
                </a:solidFill>
              </a:rPr>
              <a:t>Решение человека</a:t>
            </a:r>
            <a:endParaRPr lang="ru-RU">
              <a:solidFill>
                <a:schemeClr val="tx1"/>
              </a:solidFill>
            </a:endParaRPr>
          </a:p>
          <a:p>
            <a:endParaRPr lang="ru-RU">
              <a:solidFill>
                <a:schemeClr val="tx1"/>
              </a:solidFill>
            </a:endParaRPr>
          </a:p>
          <a:p>
            <a:r>
              <a:rPr sz="1800" b="0">
                <a:solidFill>
                  <a:srgbClr val="1C1D22"/>
                </a:solidFill>
              </a:rPr>
              <a:t>Выезд, ложное, наблюдение или ТО. По этим решениям потом двигаем порог.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ПРОБЛЕМА → РЕШЕНИЕ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525817" y="322357"/>
            <a:ext cx="3329495" cy="524696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 dirty="0">
                <a:solidFill>
                  <a:schemeClr val="accent5"/>
                </a:solidFill>
              </a:rPr>
              <a:t>12</a:t>
            </a: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2000" b="1">
                <a:solidFill>
                  <a:srgbClr val="FF0053"/>
                </a:solidFill>
              </a:rPr>
              <a:t>01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CSV в Parquet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2000" b="1">
                <a:solidFill>
                  <a:srgbClr val="FF0053"/>
                </a:solidFill>
              </a:rPr>
              <a:t>02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Витрины в Postgres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2000" b="1">
                <a:solidFill>
                  <a:srgbClr val="FF0053"/>
                </a:solidFill>
              </a:rPr>
              <a:t>03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Признаки и метки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2000" b="1">
                <a:solidFill>
                  <a:srgbClr val="FF0053"/>
                </a:solidFill>
              </a:rPr>
              <a:t>04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Модели и прогнозы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r>
              <a:rPr sz="2000" b="1">
                <a:solidFill>
                  <a:srgbClr val="FF0053"/>
                </a:solidFill>
              </a:rPr>
              <a:t>05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Экран и поток тревог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204174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КАК УСТРОЕН КОНТУР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/>
          <p:nvPr/>
        </p:nvSpPr>
        <p:spPr>
          <a:xfrm>
            <a:off x="447675" y="298835"/>
            <a:ext cx="2428875" cy="558415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2A0318-C089-B05C-98D0-C8E15942D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2" y="904538"/>
            <a:ext cx="5187948" cy="3557364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 dirty="0">
                <a:solidFill>
                  <a:schemeClr val="accent5"/>
                </a:solidFill>
              </a:rPr>
              <a:t>13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Четыре риска и то, что выше 80%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Окно — последние сутки данных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Сценарии и пачка СМВУ, лимит 5 минут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 wrap="square"/>
          <a:lstStyle/>
          <a:p>
            <a:r>
              <a:rPr sz="2800" b="1">
                <a:solidFill>
                  <a:srgbClr val="FFFFFF"/>
                </a:solidFill>
              </a:rPr>
              <a:t>ДАШБОРД</a:t>
            </a:r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37C601F-A9FB-1FCE-6981-4C7F2E275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323" y="1308180"/>
            <a:ext cx="4489806" cy="262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502229" y="323939"/>
            <a:ext cx="4050722" cy="520612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404959" y="3046299"/>
              <a:ext cx="1259055" cy="316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7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localhost:5173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269942" y="3024940"/>
              <a:ext cx="1396907" cy="340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8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localhost:5173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ru-RU" dirty="0">
                <a:solidFill>
                  <a:schemeClr val="accent5"/>
                </a:solidFill>
              </a:rPr>
              <a:t>14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Карточка пожара: почему и что делать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r>
              <a:rPr sz="1600" b="0">
                <a:solidFill>
                  <a:srgbClr val="1C1D22"/>
                </a:solidFill>
              </a:rPr>
              <a:t>Метрики, пороги, журнал решений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498725F8-7B19-399E-D58E-D588933127C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13161" b="13161"/>
          <a:stretch/>
        </p:blipFill>
        <p:spPr>
          <a:xfrm>
            <a:off x="1185970" y="1570872"/>
            <a:ext cx="4121688" cy="2283975"/>
          </a:xfr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2B157EB1-094A-A2D8-F593-D486E3E7EDE6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4"/>
          <a:srcRect t="6994" b="6994"/>
          <a:stretch/>
        </p:blipFill>
        <p:spPr>
          <a:xfrm>
            <a:off x="6855540" y="1577999"/>
            <a:ext cx="4004978" cy="2219302"/>
          </a:xfrm>
        </p:spPr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dirty="0"/>
              <a:t>ДЕМО: ПОЖАР И МЕТРИКИ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12457</TotalTime>
  <Words>894</Words>
  <Application>Microsoft Office PowerPoint</Application>
  <PresentationFormat>Широкоэкранный</PresentationFormat>
  <Paragraphs>142</Paragraphs>
  <Slides>14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Lato Light</vt:lpstr>
      <vt:lpstr>Montserrat</vt:lpstr>
      <vt:lpstr>Poppins Light</vt:lpstr>
      <vt:lpstr>Wingdings</vt:lpstr>
      <vt:lpstr>Для Академия инноваторов 16_9</vt:lpstr>
      <vt:lpstr>Без паники</vt:lpstr>
      <vt:lpstr>СУТЬ РЕШЕНИЯ</vt:lpstr>
      <vt:lpstr>КОМАНДА</vt:lpstr>
      <vt:lpstr>СЛОЖНОСТИ</vt:lpstr>
      <vt:lpstr>КОРОТКО О РЕШЕНИИ</vt:lpstr>
      <vt:lpstr>ЧЕТЫРЕ РИСКА</vt:lpstr>
      <vt:lpstr>ЧЕСТНЫЕ ОГРАНИЧЕНИЯ</vt:lpstr>
      <vt:lpstr>СТЕК И СБОРКА</vt:lpstr>
      <vt:lpstr>ДАННЫЕ СМВУ</vt:lpstr>
      <vt:lpstr>МЕТРИКИ 2026</vt:lpstr>
      <vt:lpstr>ПРОБЛЕМА → РЕШЕНИЕ</vt:lpstr>
      <vt:lpstr>КАК УСТРОЕН КОНТУР</vt:lpstr>
      <vt:lpstr>ДАШБОРД</vt:lpstr>
      <vt:lpstr>ДЕМО: ПОЖАР И МЕТРИКИ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Максим Игнаткин</cp:lastModifiedBy>
  <cp:revision>124</cp:revision>
  <dcterms:created xsi:type="dcterms:W3CDTF">2023-05-15T07:36:23Z</dcterms:created>
  <dcterms:modified xsi:type="dcterms:W3CDTF">2026-09-29T17:29:34Z</dcterms:modified>
</cp:coreProperties>
</file>